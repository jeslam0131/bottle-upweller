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11" d="100"/>
          <a:sy n="11" d="100"/>
        </p:scale>
        <p:origin x="1724" y="540"/>
      </p:cViewPr>
      <p:guideLst/>
    </p:cSldViewPr>
  </p:slideViewPr>
  <p:notesTextViewPr>
    <p:cViewPr>
      <p:scale>
        <a:sx n="3" d="2"/>
        <a:sy n="3" d="2"/>
      </p:scale>
      <p:origin x="0" y="-16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EE5A9-CD5E-432C-851C-D13E17942CD7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512A50-272D-421A-9A85-3FF586046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536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1pPr>
    <a:lvl2pPr marL="1843430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2pPr>
    <a:lvl3pPr marL="3686861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3pPr>
    <a:lvl4pPr marL="5530291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4pPr>
    <a:lvl5pPr marL="737372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5pPr>
    <a:lvl6pPr marL="921715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6pPr>
    <a:lvl7pPr marL="1106058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7pPr>
    <a:lvl8pPr marL="12904013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8pPr>
    <a:lvl9pPr marL="14747443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5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Integrate dense optical flow with bed expansion to dictate flow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5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Multi-silo scaling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5400" dirty="0"/>
              <a:t>Testing in farm setting with oysters to relate flow profile to spat growth rates and mortality</a:t>
            </a:r>
            <a:endParaRPr kumimoji="0" lang="en-US" alt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36868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54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512A50-272D-421A-9A85-3FF586046EC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881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98504-D5E7-443F-851B-C039D103A0D2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2D6FB-01FB-45AD-8A42-F4972A9D1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198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98504-D5E7-443F-851B-C039D103A0D2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2D6FB-01FB-45AD-8A42-F4972A9D1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215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/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98504-D5E7-443F-851B-C039D103A0D2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2D6FB-01FB-45AD-8A42-F4972A9D1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583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98504-D5E7-443F-851B-C039D103A0D2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2D6FB-01FB-45AD-8A42-F4972A9D1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131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2" y="12024360"/>
            <a:ext cx="18568032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2" y="8069582"/>
            <a:ext cx="18659477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2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98504-D5E7-443F-851B-C039D103A0D2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2D6FB-01FB-45AD-8A42-F4972A9D1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257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98504-D5E7-443F-851B-C039D103A0D2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2D6FB-01FB-45AD-8A42-F4972A9D1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995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98504-D5E7-443F-851B-C039D103A0D2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2D6FB-01FB-45AD-8A42-F4972A9D1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438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739647"/>
            <a:ext cx="2221992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98504-D5E7-443F-851B-C039D103A0D2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2D6FB-01FB-45AD-8A42-F4972A9D1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927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4739647"/>
            <a:ext cx="2221992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98504-D5E7-443F-851B-C039D103A0D2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2D6FB-01FB-45AD-8A42-F4972A9D1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233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98504-D5E7-443F-851B-C039D103A0D2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2D6FB-01FB-45AD-8A42-F4972A9D1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519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2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2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98504-D5E7-443F-851B-C039D103A0D2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2D6FB-01FB-45AD-8A42-F4972A9D1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758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E98504-D5E7-443F-851B-C039D103A0D2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72D6FB-01FB-45AD-8A42-F4972A9D1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348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jpg"/><Relationship Id="rId7" Type="http://schemas.openxmlformats.org/officeDocument/2006/relationships/image" Target="../media/image5.png"/><Relationship Id="rId12" Type="http://schemas.openxmlformats.org/officeDocument/2006/relationships/image" Target="../media/image10.jpe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jpg"/><Relationship Id="rId20" Type="http://schemas.openxmlformats.org/officeDocument/2006/relationships/image" Target="../media/image18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e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Rectangle 1058">
            <a:extLst>
              <a:ext uri="{FF2B5EF4-FFF2-40B4-BE49-F238E27FC236}">
                <a16:creationId xmlns:a16="http://schemas.microsoft.com/office/drawing/2014/main" id="{5613BA1C-2D1A-B793-1A0C-358E8F71A441}"/>
              </a:ext>
            </a:extLst>
          </p:cNvPr>
          <p:cNvSpPr/>
          <p:nvPr/>
        </p:nvSpPr>
        <p:spPr>
          <a:xfrm>
            <a:off x="0" y="3204981"/>
            <a:ext cx="43891200" cy="29713419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921012-D7DC-7312-4FE2-F51B5A53623B}"/>
              </a:ext>
            </a:extLst>
          </p:cNvPr>
          <p:cNvSpPr/>
          <p:nvPr/>
        </p:nvSpPr>
        <p:spPr>
          <a:xfrm>
            <a:off x="0" y="0"/>
            <a:ext cx="43891200" cy="320498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D6832D-67F7-45D9-14FD-7B05665C47EB}"/>
              </a:ext>
            </a:extLst>
          </p:cNvPr>
          <p:cNvSpPr/>
          <p:nvPr/>
        </p:nvSpPr>
        <p:spPr>
          <a:xfrm>
            <a:off x="280049" y="12654051"/>
            <a:ext cx="8428958" cy="3562394"/>
          </a:xfrm>
          <a:prstGeom prst="rect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268675-73AF-808D-DF75-CC84B0840703}"/>
              </a:ext>
            </a:extLst>
          </p:cNvPr>
          <p:cNvSpPr txBox="1"/>
          <p:nvPr/>
        </p:nvSpPr>
        <p:spPr>
          <a:xfrm>
            <a:off x="565233" y="12877901"/>
            <a:ext cx="7858591" cy="30469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Flow and Geometry Testing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000" dirty="0"/>
              <a:t>Compare flow setting strategies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000" dirty="0"/>
              <a:t>Testing mixing performance of silo geometries</a:t>
            </a:r>
          </a:p>
          <a:p>
            <a:pPr algn="ctr"/>
            <a:r>
              <a:rPr lang="en-US" sz="3600" b="1" dirty="0"/>
              <a:t>Automated Flow Control System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000" dirty="0"/>
              <a:t>Integration of camera and flow sensor to control flow valve</a:t>
            </a:r>
            <a:endParaRPr lang="en-US" sz="24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7A54E18-697D-F61D-21F6-137E92787E84}"/>
              </a:ext>
            </a:extLst>
          </p:cNvPr>
          <p:cNvSpPr/>
          <p:nvPr/>
        </p:nvSpPr>
        <p:spPr>
          <a:xfrm>
            <a:off x="280049" y="17653646"/>
            <a:ext cx="8428958" cy="3843610"/>
          </a:xfrm>
          <a:prstGeom prst="rect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1DB8640-1B74-8B3D-AC29-DA569196D30E}"/>
              </a:ext>
            </a:extLst>
          </p:cNvPr>
          <p:cNvSpPr txBox="1"/>
          <p:nvPr/>
        </p:nvSpPr>
        <p:spPr>
          <a:xfrm>
            <a:off x="437088" y="17545081"/>
            <a:ext cx="8114881" cy="470898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r>
              <a:rPr lang="en-US" sz="3600" b="1" dirty="0"/>
              <a:t>Strategy A</a:t>
            </a:r>
            <a:r>
              <a:rPr lang="en-US" sz="3600" dirty="0"/>
              <a:t>: Increase flow until bed expansion of 35% is achieved</a:t>
            </a:r>
          </a:p>
          <a:p>
            <a:endParaRPr lang="en-US" sz="3600" dirty="0"/>
          </a:p>
          <a:p>
            <a:r>
              <a:rPr lang="en-US" sz="3600" b="1" dirty="0"/>
              <a:t>Strategy B: </a:t>
            </a:r>
            <a:r>
              <a:rPr lang="en-US" sz="3600" dirty="0"/>
              <a:t>Increase flow until bottom layer of spat is moving (indicating the onset of a fully fluidized bed )</a:t>
            </a:r>
          </a:p>
          <a:p>
            <a:endParaRPr lang="en-US" sz="3600" b="1" dirty="0"/>
          </a:p>
          <a:p>
            <a:endParaRPr lang="en-US" sz="24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47B6123-9A63-087A-C7D3-F3CBD2B9C809}"/>
              </a:ext>
            </a:extLst>
          </p:cNvPr>
          <p:cNvSpPr/>
          <p:nvPr/>
        </p:nvSpPr>
        <p:spPr>
          <a:xfrm>
            <a:off x="273509" y="22912487"/>
            <a:ext cx="8442039" cy="9616807"/>
          </a:xfrm>
          <a:prstGeom prst="rect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E5221AB-6769-7AA7-DDDB-3191EF998709}"/>
              </a:ext>
            </a:extLst>
          </p:cNvPr>
          <p:cNvSpPr/>
          <p:nvPr/>
        </p:nvSpPr>
        <p:spPr>
          <a:xfrm>
            <a:off x="9115183" y="3592547"/>
            <a:ext cx="11475719" cy="14401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Comparing Flow Strategies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DF38824-B44E-A67F-73B7-A6BCD6832A09}"/>
              </a:ext>
            </a:extLst>
          </p:cNvPr>
          <p:cNvSpPr/>
          <p:nvPr/>
        </p:nvSpPr>
        <p:spPr>
          <a:xfrm>
            <a:off x="9115183" y="5048633"/>
            <a:ext cx="11475719" cy="27480661"/>
          </a:xfrm>
          <a:prstGeom prst="rect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BD8B69C-43C3-5D63-9B9F-06F75575FF4E}"/>
              </a:ext>
            </a:extLst>
          </p:cNvPr>
          <p:cNvSpPr txBox="1"/>
          <p:nvPr/>
        </p:nvSpPr>
        <p:spPr>
          <a:xfrm>
            <a:off x="9535873" y="4998262"/>
            <a:ext cx="10634339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pPr algn="ctr"/>
            <a:r>
              <a:rPr lang="en-US" sz="4200" b="1" dirty="0"/>
              <a:t>Objective</a:t>
            </a:r>
          </a:p>
          <a:p>
            <a:pPr algn="ctr"/>
            <a:endParaRPr lang="en-US" sz="2000" b="1" dirty="0">
              <a:solidFill>
                <a:schemeClr val="accent5">
                  <a:lumMod val="75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Measure the input flow (L/min) of the two strategies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Determine the bed expansion that corresponds to onset of fluidization for each silo geometry</a:t>
            </a:r>
          </a:p>
          <a:p>
            <a:endParaRPr lang="en-US" sz="2000" dirty="0"/>
          </a:p>
          <a:p>
            <a:pPr algn="ctr"/>
            <a:r>
              <a:rPr lang="en-US" sz="3600" b="1" dirty="0"/>
              <a:t>Method A: Bed Expansion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81F15E2-B807-53C3-8402-516C556A468E}"/>
              </a:ext>
            </a:extLst>
          </p:cNvPr>
          <p:cNvSpPr txBox="1"/>
          <p:nvPr/>
        </p:nvSpPr>
        <p:spPr>
          <a:xfrm>
            <a:off x="12829185" y="23038768"/>
            <a:ext cx="40477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Results</a:t>
            </a:r>
            <a:endParaRPr lang="en-US" sz="2400" dirty="0"/>
          </a:p>
        </p:txBody>
      </p:sp>
      <p:graphicFrame>
        <p:nvGraphicFramePr>
          <p:cNvPr id="79" name="Table 78">
            <a:extLst>
              <a:ext uri="{FF2B5EF4-FFF2-40B4-BE49-F238E27FC236}">
                <a16:creationId xmlns:a16="http://schemas.microsoft.com/office/drawing/2014/main" id="{EE5184FD-05C4-4CBA-5A0B-318A5DB010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6265051"/>
              </p:ext>
            </p:extLst>
          </p:nvPr>
        </p:nvGraphicFramePr>
        <p:xfrm>
          <a:off x="9448658" y="24773986"/>
          <a:ext cx="10808769" cy="27432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093051">
                  <a:extLst>
                    <a:ext uri="{9D8B030D-6E8A-4147-A177-3AD203B41FA5}">
                      <a16:colId xmlns:a16="http://schemas.microsoft.com/office/drawing/2014/main" val="3918766527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815693808"/>
                    </a:ext>
                  </a:extLst>
                </a:gridCol>
                <a:gridCol w="4058118">
                  <a:extLst>
                    <a:ext uri="{9D8B030D-6E8A-4147-A177-3AD203B41FA5}">
                      <a16:colId xmlns:a16="http://schemas.microsoft.com/office/drawing/2014/main" val="2139683043"/>
                    </a:ext>
                  </a:extLst>
                </a:gridCol>
              </a:tblGrid>
              <a:tr h="298086">
                <a:tc>
                  <a:txBody>
                    <a:bodyPr/>
                    <a:lstStyle/>
                    <a:p>
                      <a:r>
                        <a:rPr lang="en-US" sz="3000" dirty="0"/>
                        <a:t>Silo Geometry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Bed Expansion 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Onset Fluidization Flow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22009"/>
                  </a:ext>
                </a:extLst>
              </a:tr>
              <a:tr h="223565">
                <a:tc>
                  <a:txBody>
                    <a:bodyPr/>
                    <a:lstStyle/>
                    <a:p>
                      <a:r>
                        <a:rPr lang="en-US" sz="3000" dirty="0"/>
                        <a:t>Hipped Cylinder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15 L/min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13 L/min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0698628"/>
                  </a:ext>
                </a:extLst>
              </a:tr>
              <a:tr h="223565">
                <a:tc>
                  <a:txBody>
                    <a:bodyPr/>
                    <a:lstStyle/>
                    <a:p>
                      <a:r>
                        <a:rPr lang="en-US" sz="3000" dirty="0"/>
                        <a:t>Inverted Pyramid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11 L/min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10 L/min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6981440"/>
                  </a:ext>
                </a:extLst>
              </a:tr>
              <a:tr h="223565">
                <a:tc>
                  <a:txBody>
                    <a:bodyPr/>
                    <a:lstStyle/>
                    <a:p>
                      <a:r>
                        <a:rPr lang="en-US" sz="3000" dirty="0"/>
                        <a:t>Straight Cylinder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14 L/min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13 L/min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910168"/>
                  </a:ext>
                </a:extLst>
              </a:tr>
              <a:tr h="223565">
                <a:tc>
                  <a:txBody>
                    <a:bodyPr/>
                    <a:lstStyle/>
                    <a:p>
                      <a:r>
                        <a:rPr lang="en-US" sz="3000" dirty="0"/>
                        <a:t>Inverted Cone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10 L/min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9 L/min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864780"/>
                  </a:ext>
                </a:extLst>
              </a:tr>
            </a:tbl>
          </a:graphicData>
        </a:graphic>
      </p:graphicFrame>
      <p:sp>
        <p:nvSpPr>
          <p:cNvPr id="82" name="TextBox 81">
            <a:extLst>
              <a:ext uri="{FF2B5EF4-FFF2-40B4-BE49-F238E27FC236}">
                <a16:creationId xmlns:a16="http://schemas.microsoft.com/office/drawing/2014/main" id="{022E611A-82E9-3508-5D05-64EE51BA558E}"/>
              </a:ext>
            </a:extLst>
          </p:cNvPr>
          <p:cNvSpPr txBox="1"/>
          <p:nvPr/>
        </p:nvSpPr>
        <p:spPr>
          <a:xfrm>
            <a:off x="9635118" y="23681115"/>
            <a:ext cx="104358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Average Flow Valve Corresponding to 35 % Bed Expansion and Onset of Fluidization Different Silo Geometries 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E5B7FC6-BA5C-98BF-9BBB-4D4088E11D0F}"/>
              </a:ext>
            </a:extLst>
          </p:cNvPr>
          <p:cNvSpPr txBox="1"/>
          <p:nvPr/>
        </p:nvSpPr>
        <p:spPr>
          <a:xfrm>
            <a:off x="9635118" y="27889649"/>
            <a:ext cx="104358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Bed Expansion corresponding to Onset of Fluidization for Different Silo Geometries</a:t>
            </a:r>
          </a:p>
        </p:txBody>
      </p:sp>
      <p:graphicFrame>
        <p:nvGraphicFramePr>
          <p:cNvPr id="88" name="Table 87">
            <a:extLst>
              <a:ext uri="{FF2B5EF4-FFF2-40B4-BE49-F238E27FC236}">
                <a16:creationId xmlns:a16="http://schemas.microsoft.com/office/drawing/2014/main" id="{963C92BE-A66A-9117-0FCF-4BCDEB8FD4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6180046"/>
              </p:ext>
            </p:extLst>
          </p:nvPr>
        </p:nvGraphicFramePr>
        <p:xfrm>
          <a:off x="9474336" y="28954211"/>
          <a:ext cx="10757412" cy="310519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378706">
                  <a:extLst>
                    <a:ext uri="{9D8B030D-6E8A-4147-A177-3AD203B41FA5}">
                      <a16:colId xmlns:a16="http://schemas.microsoft.com/office/drawing/2014/main" val="4059278506"/>
                    </a:ext>
                  </a:extLst>
                </a:gridCol>
                <a:gridCol w="5378706">
                  <a:extLst>
                    <a:ext uri="{9D8B030D-6E8A-4147-A177-3AD203B41FA5}">
                      <a16:colId xmlns:a16="http://schemas.microsoft.com/office/drawing/2014/main" val="2185576890"/>
                    </a:ext>
                  </a:extLst>
                </a:gridCol>
              </a:tblGrid>
              <a:tr h="621039">
                <a:tc>
                  <a:txBody>
                    <a:bodyPr/>
                    <a:lstStyle/>
                    <a:p>
                      <a:r>
                        <a:rPr lang="en-US" sz="3000" dirty="0"/>
                        <a:t>Silo Geometry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Bed Expansion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485696"/>
                  </a:ext>
                </a:extLst>
              </a:tr>
              <a:tr h="621039">
                <a:tc>
                  <a:txBody>
                    <a:bodyPr/>
                    <a:lstStyle/>
                    <a:p>
                      <a:r>
                        <a:rPr lang="en-US" sz="3000" dirty="0"/>
                        <a:t>Hipped Cylinder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27%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1532646"/>
                  </a:ext>
                </a:extLst>
              </a:tr>
              <a:tr h="621039">
                <a:tc>
                  <a:txBody>
                    <a:bodyPr/>
                    <a:lstStyle/>
                    <a:p>
                      <a:r>
                        <a:rPr lang="en-US" sz="3000" dirty="0"/>
                        <a:t>Inverted Pyramid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23%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4584092"/>
                  </a:ext>
                </a:extLst>
              </a:tr>
              <a:tr h="621039">
                <a:tc>
                  <a:txBody>
                    <a:bodyPr/>
                    <a:lstStyle/>
                    <a:p>
                      <a:r>
                        <a:rPr lang="en-US" sz="3000" dirty="0"/>
                        <a:t>Straight Cylinder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27%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206060"/>
                  </a:ext>
                </a:extLst>
              </a:tr>
              <a:tr h="621039">
                <a:tc>
                  <a:txBody>
                    <a:bodyPr/>
                    <a:lstStyle/>
                    <a:p>
                      <a:r>
                        <a:rPr lang="en-US" sz="3000" dirty="0"/>
                        <a:t>Inverted Cone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24%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136410"/>
                  </a:ext>
                </a:extLst>
              </a:tr>
            </a:tbl>
          </a:graphicData>
        </a:graphic>
      </p:graphicFrame>
      <p:sp>
        <p:nvSpPr>
          <p:cNvPr id="89" name="Rectangle 88">
            <a:extLst>
              <a:ext uri="{FF2B5EF4-FFF2-40B4-BE49-F238E27FC236}">
                <a16:creationId xmlns:a16="http://schemas.microsoft.com/office/drawing/2014/main" id="{A019D070-B90B-E118-2549-3CF8C32A2924}"/>
              </a:ext>
            </a:extLst>
          </p:cNvPr>
          <p:cNvSpPr/>
          <p:nvPr/>
        </p:nvSpPr>
        <p:spPr>
          <a:xfrm>
            <a:off x="20970073" y="3610902"/>
            <a:ext cx="11475719" cy="14401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Comparing Silo Geometries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583C2DB3-F92B-0E0B-26F4-5829163550B2}"/>
              </a:ext>
            </a:extLst>
          </p:cNvPr>
          <p:cNvSpPr/>
          <p:nvPr/>
        </p:nvSpPr>
        <p:spPr>
          <a:xfrm>
            <a:off x="20970073" y="5045617"/>
            <a:ext cx="11475719" cy="27454649"/>
          </a:xfrm>
          <a:prstGeom prst="rect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D4057E1-2B03-544A-F5A1-32A2435F67A9}"/>
              </a:ext>
            </a:extLst>
          </p:cNvPr>
          <p:cNvSpPr txBox="1"/>
          <p:nvPr/>
        </p:nvSpPr>
        <p:spPr>
          <a:xfrm>
            <a:off x="9591573" y="13438922"/>
            <a:ext cx="47540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dirty="0"/>
              <a:t>Add 500 ml of sand (size 400 - 700 um) into the silo and mark the packed bed height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B45E904-8AC8-F7F5-513D-A8CB0612B8D4}"/>
              </a:ext>
            </a:extLst>
          </p:cNvPr>
          <p:cNvSpPr txBox="1"/>
          <p:nvPr/>
        </p:nvSpPr>
        <p:spPr>
          <a:xfrm>
            <a:off x="14885282" y="13440232"/>
            <a:ext cx="53168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dirty="0"/>
              <a:t>Increase flow until fluidized bed height is 135% of the packed bed height and measure flow rate 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7F6A384-3625-11EC-D433-4FEB7F03BCE6}"/>
              </a:ext>
            </a:extLst>
          </p:cNvPr>
          <p:cNvSpPr txBox="1"/>
          <p:nvPr/>
        </p:nvSpPr>
        <p:spPr>
          <a:xfrm>
            <a:off x="9591574" y="21034005"/>
            <a:ext cx="47540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dirty="0"/>
              <a:t>Add 500 ml of sand (size 400 - 700 um) into the silo and mark the packed bed height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DC4ACE0-0CEF-8417-59E5-1EC243A99DEB}"/>
              </a:ext>
            </a:extLst>
          </p:cNvPr>
          <p:cNvSpPr txBox="1"/>
          <p:nvPr/>
        </p:nvSpPr>
        <p:spPr>
          <a:xfrm>
            <a:off x="14984022" y="20964058"/>
            <a:ext cx="511937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dirty="0"/>
              <a:t>Increase flow until bottom layer of sand just begins to move; mark the measured flow rate and the fluidized bed height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87508B1-C3BD-9061-4E8A-7EB6A4D875B9}"/>
              </a:ext>
            </a:extLst>
          </p:cNvPr>
          <p:cNvSpPr txBox="1"/>
          <p:nvPr/>
        </p:nvSpPr>
        <p:spPr>
          <a:xfrm>
            <a:off x="21208927" y="5145915"/>
            <a:ext cx="1099801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Objective</a:t>
            </a:r>
          </a:p>
          <a:p>
            <a:pPr algn="ctr"/>
            <a:r>
              <a:rPr lang="en-US" sz="3000" dirty="0"/>
              <a:t>Determine which silo geometry best promotes mixing of spat</a:t>
            </a:r>
          </a:p>
          <a:p>
            <a:pPr algn="ctr"/>
            <a:endParaRPr lang="en-US" sz="3000" dirty="0"/>
          </a:p>
          <a:p>
            <a:pPr algn="ctr"/>
            <a:endParaRPr lang="en-US" sz="3000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3CD0B854-CAF5-D938-5C21-C0FDFAF03A2F}"/>
              </a:ext>
            </a:extLst>
          </p:cNvPr>
          <p:cNvSpPr txBox="1"/>
          <p:nvPr/>
        </p:nvSpPr>
        <p:spPr>
          <a:xfrm>
            <a:off x="10402716" y="15300111"/>
            <a:ext cx="89006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Method B: Onset of Fluidization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3A5E47AB-32B8-3528-DBC9-92F1B6F7F85A}"/>
              </a:ext>
            </a:extLst>
          </p:cNvPr>
          <p:cNvSpPr/>
          <p:nvPr/>
        </p:nvSpPr>
        <p:spPr>
          <a:xfrm>
            <a:off x="32760194" y="3610902"/>
            <a:ext cx="10825790" cy="14377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Comparing Silo Geometries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FA5A87C2-2F11-F00B-5578-6EB6E5689FFD}"/>
              </a:ext>
            </a:extLst>
          </p:cNvPr>
          <p:cNvSpPr/>
          <p:nvPr/>
        </p:nvSpPr>
        <p:spPr>
          <a:xfrm>
            <a:off x="32758748" y="5048634"/>
            <a:ext cx="10825791" cy="12112808"/>
          </a:xfrm>
          <a:prstGeom prst="rect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AB6FF06-0C09-562C-0AD1-B8CD9CD5DB01}"/>
              </a:ext>
            </a:extLst>
          </p:cNvPr>
          <p:cNvSpPr txBox="1"/>
          <p:nvPr/>
        </p:nvSpPr>
        <p:spPr>
          <a:xfrm>
            <a:off x="21208927" y="19633317"/>
            <a:ext cx="109980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Results</a:t>
            </a:r>
            <a:endParaRPr lang="en-US" sz="300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B024129-F5D0-0B93-FFF3-FFC4AD587909}"/>
              </a:ext>
            </a:extLst>
          </p:cNvPr>
          <p:cNvSpPr txBox="1"/>
          <p:nvPr/>
        </p:nvSpPr>
        <p:spPr>
          <a:xfrm>
            <a:off x="21725393" y="12280225"/>
            <a:ext cx="44434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dirty="0"/>
              <a:t>Add a layer of 100 mL black sand to the bottom of the silo followed by 400 mL of white sand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519086D6-E945-E85F-2BF5-0E911ED5B4DC}"/>
              </a:ext>
            </a:extLst>
          </p:cNvPr>
          <p:cNvSpPr txBox="1"/>
          <p:nvPr/>
        </p:nvSpPr>
        <p:spPr>
          <a:xfrm>
            <a:off x="27341455" y="12280225"/>
            <a:ext cx="41634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dirty="0"/>
              <a:t>Increase the flow until the fluidized bed reaches 35% expansion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EB1E634-867E-7F5D-E183-FB95130C8158}"/>
              </a:ext>
            </a:extLst>
          </p:cNvPr>
          <p:cNvSpPr txBox="1"/>
          <p:nvPr/>
        </p:nvSpPr>
        <p:spPr>
          <a:xfrm>
            <a:off x="21480889" y="17701052"/>
            <a:ext cx="104540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dirty="0"/>
              <a:t>A camera tracks dyed cultch to measure the time to reach a Lacey Mixing Index (LMI) of 0.9, used as a proxy for particle redistribution and mixing effectiveness across silo geometries. </a:t>
            </a:r>
            <a:endParaRPr lang="en-US" sz="3000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A6EDA477-D482-B066-A95A-BE21C52875B7}"/>
              </a:ext>
            </a:extLst>
          </p:cNvPr>
          <p:cNvSpPr txBox="1"/>
          <p:nvPr/>
        </p:nvSpPr>
        <p:spPr>
          <a:xfrm>
            <a:off x="21307454" y="6585189"/>
            <a:ext cx="108009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Method</a:t>
            </a:r>
            <a:endParaRPr lang="en-US" sz="3000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CC368F12-FAA6-B426-4B87-BB3DEA3B4A42}"/>
              </a:ext>
            </a:extLst>
          </p:cNvPr>
          <p:cNvSpPr txBox="1"/>
          <p:nvPr/>
        </p:nvSpPr>
        <p:spPr>
          <a:xfrm>
            <a:off x="21490008" y="20256128"/>
            <a:ext cx="1043584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Example plot of LMI as a function of time (Hipped Cylinder)</a:t>
            </a:r>
          </a:p>
        </p:txBody>
      </p:sp>
      <p:pic>
        <p:nvPicPr>
          <p:cNvPr id="124" name="Picture 123">
            <a:extLst>
              <a:ext uri="{FF2B5EF4-FFF2-40B4-BE49-F238E27FC236}">
                <a16:creationId xmlns:a16="http://schemas.microsoft.com/office/drawing/2014/main" id="{AC17A98D-9D0C-071B-1210-EAF0373723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07"/>
          <a:stretch>
            <a:fillRect/>
          </a:stretch>
        </p:blipFill>
        <p:spPr>
          <a:xfrm>
            <a:off x="22380324" y="20838074"/>
            <a:ext cx="8655217" cy="4302736"/>
          </a:xfrm>
          <a:prstGeom prst="rect">
            <a:avLst/>
          </a:prstGeom>
        </p:spPr>
      </p:pic>
      <p:sp>
        <p:nvSpPr>
          <p:cNvPr id="128" name="TextBox 127">
            <a:extLst>
              <a:ext uri="{FF2B5EF4-FFF2-40B4-BE49-F238E27FC236}">
                <a16:creationId xmlns:a16="http://schemas.microsoft.com/office/drawing/2014/main" id="{B2B9336B-DC9B-A06F-ED85-382C3CCB04DE}"/>
              </a:ext>
            </a:extLst>
          </p:cNvPr>
          <p:cNvSpPr txBox="1"/>
          <p:nvPr/>
        </p:nvSpPr>
        <p:spPr>
          <a:xfrm>
            <a:off x="32953718" y="5096507"/>
            <a:ext cx="104358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Qualitative Observations of Different Silo Geometries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C9159683-104D-6052-4BCB-05421F9171DD}"/>
              </a:ext>
            </a:extLst>
          </p:cNvPr>
          <p:cNvSpPr/>
          <p:nvPr/>
        </p:nvSpPr>
        <p:spPr>
          <a:xfrm>
            <a:off x="32742731" y="18735886"/>
            <a:ext cx="10825791" cy="8257374"/>
          </a:xfrm>
          <a:prstGeom prst="rect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A16473B2-988D-E1CA-8DD0-7EF91A060448}"/>
              </a:ext>
            </a:extLst>
          </p:cNvPr>
          <p:cNvSpPr txBox="1"/>
          <p:nvPr/>
        </p:nvSpPr>
        <p:spPr>
          <a:xfrm>
            <a:off x="21490008" y="31366811"/>
            <a:ext cx="104358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*error bars are calculated for 95% confidence interval in log space and n=3 trials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F2493E2A-1E4E-2596-D21A-154AA829DA2D}"/>
              </a:ext>
            </a:extLst>
          </p:cNvPr>
          <p:cNvSpPr/>
          <p:nvPr/>
        </p:nvSpPr>
        <p:spPr>
          <a:xfrm>
            <a:off x="286143" y="3610903"/>
            <a:ext cx="8428958" cy="120771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Motivation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E301CAA2-8A18-0774-C131-131EC739454C}"/>
              </a:ext>
            </a:extLst>
          </p:cNvPr>
          <p:cNvSpPr/>
          <p:nvPr/>
        </p:nvSpPr>
        <p:spPr>
          <a:xfrm>
            <a:off x="280049" y="4818616"/>
            <a:ext cx="8428958" cy="6350006"/>
          </a:xfrm>
          <a:prstGeom prst="rect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64FCE8C7-908F-313A-4F76-83D3918F6B1F}"/>
              </a:ext>
            </a:extLst>
          </p:cNvPr>
          <p:cNvSpPr txBox="1"/>
          <p:nvPr/>
        </p:nvSpPr>
        <p:spPr>
          <a:xfrm>
            <a:off x="520269" y="5015651"/>
            <a:ext cx="7948519" cy="6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000" dirty="0"/>
              <a:t>Fluidized bottle </a:t>
            </a:r>
            <a:r>
              <a:rPr lang="en-US" sz="3000" dirty="0" err="1"/>
              <a:t>upweller</a:t>
            </a:r>
            <a:r>
              <a:rPr lang="en-US" sz="3000" dirty="0"/>
              <a:t> systems (BUPSYs) use upward flow to suspend oyster spat, promoting uniform feeding and growth. However, industry-standard criteria for setting flow are not well defined, and little testing has been done to evaluate the effectiveness of different silo geometries. Because growth depends on maintaining a consistent fluidized state over time, this work evaluates flow-setting strategies and silo geometries to quantify their impact on mixing . These insights to inform an automated flow-control system that maintains target operating conditions with reduced labor.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26D73FBC-DD00-E349-5099-C5F5B79D370E}"/>
              </a:ext>
            </a:extLst>
          </p:cNvPr>
          <p:cNvSpPr txBox="1"/>
          <p:nvPr/>
        </p:nvSpPr>
        <p:spPr>
          <a:xfrm>
            <a:off x="21490008" y="25317548"/>
            <a:ext cx="104358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Time for each Silo Geometry to reach a LMI of 0.9 where flow is set for 35% Bed Expansion</a:t>
            </a:r>
          </a:p>
        </p:txBody>
      </p:sp>
      <p:pic>
        <p:nvPicPr>
          <p:cNvPr id="162" name="Picture 161" descr="A drawing of a liquid in a tube&#10;&#10;AI-generated content may be incorrect.">
            <a:extLst>
              <a:ext uri="{FF2B5EF4-FFF2-40B4-BE49-F238E27FC236}">
                <a16:creationId xmlns:a16="http://schemas.microsoft.com/office/drawing/2014/main" id="{E7D79470-0518-C456-1D58-D7156D398D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9253" y="9025804"/>
            <a:ext cx="2410161" cy="4391638"/>
          </a:xfrm>
          <a:prstGeom prst="rect">
            <a:avLst/>
          </a:prstGeom>
        </p:spPr>
      </p:pic>
      <p:pic>
        <p:nvPicPr>
          <p:cNvPr id="164" name="Picture 163" descr="A diagram of a liquid in a tube&#10;&#10;AI-generated content may be incorrect.">
            <a:extLst>
              <a:ext uri="{FF2B5EF4-FFF2-40B4-BE49-F238E27FC236}">
                <a16:creationId xmlns:a16="http://schemas.microsoft.com/office/drawing/2014/main" id="{95726F36-F967-A834-AB23-57D1B75419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81499" y="9146084"/>
            <a:ext cx="2324424" cy="4315427"/>
          </a:xfrm>
          <a:prstGeom prst="rect">
            <a:avLst/>
          </a:prstGeom>
        </p:spPr>
      </p:pic>
      <p:pic>
        <p:nvPicPr>
          <p:cNvPr id="166" name="Picture 165" descr="A close-up of a test tube&#10;&#10;AI-generated content may be incorrect.">
            <a:extLst>
              <a:ext uri="{FF2B5EF4-FFF2-40B4-BE49-F238E27FC236}">
                <a16:creationId xmlns:a16="http://schemas.microsoft.com/office/drawing/2014/main" id="{ED002B41-5983-3F05-ED6E-63AEC4195A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55516" y="16451551"/>
            <a:ext cx="1857634" cy="4553585"/>
          </a:xfrm>
          <a:prstGeom prst="rect">
            <a:avLst/>
          </a:prstGeom>
        </p:spPr>
      </p:pic>
      <p:pic>
        <p:nvPicPr>
          <p:cNvPr id="168" name="Picture 167" descr="A diagram of a test tube&#10;&#10;AI-generated content may be incorrect.">
            <a:extLst>
              <a:ext uri="{FF2B5EF4-FFF2-40B4-BE49-F238E27FC236}">
                <a16:creationId xmlns:a16="http://schemas.microsoft.com/office/drawing/2014/main" id="{EDC4DC8F-2186-C37E-1C20-B526589A89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19604" y="16451551"/>
            <a:ext cx="2248214" cy="4401164"/>
          </a:xfrm>
          <a:prstGeom prst="rect">
            <a:avLst/>
          </a:prstGeom>
        </p:spPr>
      </p:pic>
      <p:sp>
        <p:nvSpPr>
          <p:cNvPr id="172" name="Rectangle 171">
            <a:extLst>
              <a:ext uri="{FF2B5EF4-FFF2-40B4-BE49-F238E27FC236}">
                <a16:creationId xmlns:a16="http://schemas.microsoft.com/office/drawing/2014/main" id="{998178C3-DFF5-A782-C3D2-5AE97D0D0754}"/>
              </a:ext>
            </a:extLst>
          </p:cNvPr>
          <p:cNvSpPr/>
          <p:nvPr/>
        </p:nvSpPr>
        <p:spPr>
          <a:xfrm>
            <a:off x="280049" y="11446339"/>
            <a:ext cx="8428958" cy="120771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Objective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AC9FFEF3-2E0B-8782-D6A9-9F80A4E2A130}"/>
              </a:ext>
            </a:extLst>
          </p:cNvPr>
          <p:cNvSpPr/>
          <p:nvPr/>
        </p:nvSpPr>
        <p:spPr>
          <a:xfrm>
            <a:off x="280049" y="16473818"/>
            <a:ext cx="8428958" cy="120771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Flow Setting Strategies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9504647A-5903-CB62-9FFE-6195111BC060}"/>
              </a:ext>
            </a:extLst>
          </p:cNvPr>
          <p:cNvSpPr/>
          <p:nvPr/>
        </p:nvSpPr>
        <p:spPr>
          <a:xfrm>
            <a:off x="264977" y="21732917"/>
            <a:ext cx="8459103" cy="120771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Silo Geometries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78EB94D1-87AC-D454-81D3-A0C22B7CB405}"/>
              </a:ext>
            </a:extLst>
          </p:cNvPr>
          <p:cNvSpPr txBox="1"/>
          <p:nvPr/>
        </p:nvSpPr>
        <p:spPr>
          <a:xfrm>
            <a:off x="582989" y="31056429"/>
            <a:ext cx="78230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BUPSY setup used for testing flow setting strategies and silo geometries. 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EEE9849D-02D1-4B40-D8CC-E5032FD99081}"/>
              </a:ext>
            </a:extLst>
          </p:cNvPr>
          <p:cNvSpPr txBox="1"/>
          <p:nvPr/>
        </p:nvSpPr>
        <p:spPr>
          <a:xfrm>
            <a:off x="2606092" y="26236782"/>
            <a:ext cx="14992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Inverted Pyramid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7E909EA4-8E70-670A-E9BA-256E7F4ED841}"/>
              </a:ext>
            </a:extLst>
          </p:cNvPr>
          <p:cNvSpPr txBox="1"/>
          <p:nvPr/>
        </p:nvSpPr>
        <p:spPr>
          <a:xfrm>
            <a:off x="723441" y="26236782"/>
            <a:ext cx="14992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Hipped</a:t>
            </a:r>
          </a:p>
          <a:p>
            <a:pPr algn="ctr"/>
            <a:r>
              <a:rPr lang="en-US" sz="3000" dirty="0"/>
              <a:t>Cylinder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7B74AF6D-8C1E-7F15-D5DB-C28FAF0F11EE}"/>
              </a:ext>
            </a:extLst>
          </p:cNvPr>
          <p:cNvSpPr txBox="1"/>
          <p:nvPr/>
        </p:nvSpPr>
        <p:spPr>
          <a:xfrm>
            <a:off x="4557107" y="26236782"/>
            <a:ext cx="14992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Straight</a:t>
            </a:r>
          </a:p>
          <a:p>
            <a:pPr algn="ctr"/>
            <a:r>
              <a:rPr lang="en-US" sz="3000" dirty="0"/>
              <a:t>Cylinder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E609AA45-5B08-DC98-0344-DB3D940EE7C2}"/>
              </a:ext>
            </a:extLst>
          </p:cNvPr>
          <p:cNvSpPr txBox="1"/>
          <p:nvPr/>
        </p:nvSpPr>
        <p:spPr>
          <a:xfrm>
            <a:off x="6508123" y="26236782"/>
            <a:ext cx="14992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Inverted </a:t>
            </a:r>
          </a:p>
          <a:p>
            <a:pPr algn="ctr"/>
            <a:r>
              <a:rPr lang="en-US" sz="3000" dirty="0"/>
              <a:t>Cone</a:t>
            </a:r>
          </a:p>
        </p:txBody>
      </p:sp>
      <p:pic>
        <p:nvPicPr>
          <p:cNvPr id="184" name="Picture 183" descr="A black and white drawing of different shapes&#10;&#10;AI-generated content may be incorrect.">
            <a:extLst>
              <a:ext uri="{FF2B5EF4-FFF2-40B4-BE49-F238E27FC236}">
                <a16:creationId xmlns:a16="http://schemas.microsoft.com/office/drawing/2014/main" id="{54E82496-02B9-970B-CA9B-F4C8D3D6FD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5041" y="22986726"/>
            <a:ext cx="8158975" cy="3179368"/>
          </a:xfrm>
          <a:prstGeom prst="rect">
            <a:avLst/>
          </a:prstGeom>
        </p:spPr>
      </p:pic>
      <p:pic>
        <p:nvPicPr>
          <p:cNvPr id="1024" name="Picture 1023" descr="A graph of different types of cylinders&#10;&#10;AI-generated content may be incorrect.">
            <a:extLst>
              <a:ext uri="{FF2B5EF4-FFF2-40B4-BE49-F238E27FC236}">
                <a16:creationId xmlns:a16="http://schemas.microsoft.com/office/drawing/2014/main" id="{AEEF1514-C636-4F1B-A17B-DBB039FA52F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661504" y="26356774"/>
            <a:ext cx="10092856" cy="4811810"/>
          </a:xfrm>
          <a:prstGeom prst="rect">
            <a:avLst/>
          </a:prstGeom>
        </p:spPr>
      </p:pic>
      <p:grpSp>
        <p:nvGrpSpPr>
          <p:cNvPr id="1041" name="Group 1040">
            <a:extLst>
              <a:ext uri="{FF2B5EF4-FFF2-40B4-BE49-F238E27FC236}">
                <a16:creationId xmlns:a16="http://schemas.microsoft.com/office/drawing/2014/main" id="{9DB315E7-EE35-A774-C750-3C68A711853B}"/>
              </a:ext>
            </a:extLst>
          </p:cNvPr>
          <p:cNvGrpSpPr/>
          <p:nvPr/>
        </p:nvGrpSpPr>
        <p:grpSpPr>
          <a:xfrm>
            <a:off x="21571197" y="14319576"/>
            <a:ext cx="10273471" cy="3285488"/>
            <a:chOff x="21480889" y="14624315"/>
            <a:chExt cx="10273471" cy="3285488"/>
          </a:xfrm>
        </p:grpSpPr>
        <p:sp>
          <p:nvSpPr>
            <p:cNvPr id="1036" name="Rectangle 1035">
              <a:extLst>
                <a:ext uri="{FF2B5EF4-FFF2-40B4-BE49-F238E27FC236}">
                  <a16:creationId xmlns:a16="http://schemas.microsoft.com/office/drawing/2014/main" id="{6F90278E-CDCB-43EF-7999-9FEF95A64CD4}"/>
                </a:ext>
              </a:extLst>
            </p:cNvPr>
            <p:cNvSpPr/>
            <p:nvPr/>
          </p:nvSpPr>
          <p:spPr>
            <a:xfrm>
              <a:off x="21480889" y="14624316"/>
              <a:ext cx="10273471" cy="3285487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32" name="Picture 1031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6895757E-8319-156E-0E43-D551850F6E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50260" t="28715" r="9639" b="47516"/>
            <a:stretch>
              <a:fillRect/>
            </a:stretch>
          </p:blipFill>
          <p:spPr>
            <a:xfrm>
              <a:off x="24729829" y="14624315"/>
              <a:ext cx="3548314" cy="3240673"/>
            </a:xfrm>
            <a:prstGeom prst="rect">
              <a:avLst/>
            </a:prstGeom>
          </p:spPr>
        </p:pic>
        <p:pic>
          <p:nvPicPr>
            <p:cNvPr id="1035" name="Picture 1034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B9129728-00E8-98BF-AAE9-322CC85322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58361" t="82560" r="14163" b="-2770"/>
            <a:stretch>
              <a:fillRect/>
            </a:stretch>
          </p:blipFill>
          <p:spPr>
            <a:xfrm>
              <a:off x="28940690" y="14927121"/>
              <a:ext cx="2431124" cy="2874450"/>
            </a:xfrm>
            <a:prstGeom prst="rect">
              <a:avLst/>
            </a:prstGeom>
          </p:spPr>
        </p:pic>
        <p:sp>
          <p:nvSpPr>
            <p:cNvPr id="1029" name="TextBox 1028">
              <a:extLst>
                <a:ext uri="{FF2B5EF4-FFF2-40B4-BE49-F238E27FC236}">
                  <a16:creationId xmlns:a16="http://schemas.microsoft.com/office/drawing/2014/main" id="{97902395-13DB-934A-F4E7-F89BD28938A8}"/>
                </a:ext>
              </a:extLst>
            </p:cNvPr>
            <p:cNvSpPr txBox="1"/>
            <p:nvPr/>
          </p:nvSpPr>
          <p:spPr>
            <a:xfrm>
              <a:off x="21577564" y="14766749"/>
              <a:ext cx="2629646" cy="92333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Helvetica Neue" panose="02000503040000020004" pitchFamily="50" charset="-52"/>
                </a:rPr>
                <a:t>LMI: 0.71</a:t>
              </a:r>
            </a:p>
            <a:p>
              <a:r>
                <a:rPr lang="en-US" b="1" dirty="0">
                  <a:latin typeface="Helvetica Neue" panose="02000503040000020004" pitchFamily="50" charset="-52"/>
                </a:rPr>
                <a:t>Measure Tracer: 0.179</a:t>
              </a:r>
            </a:p>
            <a:p>
              <a:r>
                <a:rPr lang="en-US" b="1" dirty="0">
                  <a:latin typeface="Helvetica Neue" panose="02000503040000020004" pitchFamily="50" charset="-52"/>
                </a:rPr>
                <a:t>Time: 00:06.33</a:t>
              </a:r>
            </a:p>
          </p:txBody>
        </p:sp>
      </p:grpSp>
      <p:pic>
        <p:nvPicPr>
          <p:cNvPr id="1038" name="Picture 1037">
            <a:extLst>
              <a:ext uri="{FF2B5EF4-FFF2-40B4-BE49-F238E27FC236}">
                <a16:creationId xmlns:a16="http://schemas.microsoft.com/office/drawing/2014/main" id="{A803168F-CF85-327F-D061-79D472C530E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912" b="8772"/>
          <a:stretch>
            <a:fillRect/>
          </a:stretch>
        </p:blipFill>
        <p:spPr>
          <a:xfrm>
            <a:off x="21997514" y="7491413"/>
            <a:ext cx="3899256" cy="4421356"/>
          </a:xfrm>
          <a:prstGeom prst="rect">
            <a:avLst/>
          </a:prstGeom>
        </p:spPr>
      </p:pic>
      <p:pic>
        <p:nvPicPr>
          <p:cNvPr id="1040" name="Picture 1039">
            <a:extLst>
              <a:ext uri="{FF2B5EF4-FFF2-40B4-BE49-F238E27FC236}">
                <a16:creationId xmlns:a16="http://schemas.microsoft.com/office/drawing/2014/main" id="{22DC2A4E-BED9-8F42-2D00-6875DB87AEE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60" r="7868" b="8788"/>
          <a:stretch>
            <a:fillRect/>
          </a:stretch>
        </p:blipFill>
        <p:spPr>
          <a:xfrm>
            <a:off x="27459541" y="7487758"/>
            <a:ext cx="3693272" cy="4453079"/>
          </a:xfrm>
          <a:prstGeom prst="rect">
            <a:avLst/>
          </a:prstGeom>
        </p:spPr>
      </p:pic>
      <p:pic>
        <p:nvPicPr>
          <p:cNvPr id="1043" name="Picture 1042" descr="A glass container with liquid in it&#10;&#10;AI-generated content may be incorrect.">
            <a:extLst>
              <a:ext uri="{FF2B5EF4-FFF2-40B4-BE49-F238E27FC236}">
                <a16:creationId xmlns:a16="http://schemas.microsoft.com/office/drawing/2014/main" id="{42D8BDA5-DD62-3C7B-45B8-58D6AFFD2D7D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38204"/>
          <a:stretch>
            <a:fillRect/>
          </a:stretch>
        </p:blipFill>
        <p:spPr>
          <a:xfrm>
            <a:off x="34223499" y="11212728"/>
            <a:ext cx="2970990" cy="3007690"/>
          </a:xfrm>
          <a:prstGeom prst="rect">
            <a:avLst/>
          </a:prstGeom>
        </p:spPr>
      </p:pic>
      <p:pic>
        <p:nvPicPr>
          <p:cNvPr id="1045" name="Picture 1044" descr="A black and white cone&#10;&#10;AI-generated content may be incorrect.">
            <a:extLst>
              <a:ext uri="{FF2B5EF4-FFF2-40B4-BE49-F238E27FC236}">
                <a16:creationId xmlns:a16="http://schemas.microsoft.com/office/drawing/2014/main" id="{6BEF8C4A-B8AE-EF71-9A2B-4E5C24D5EAB4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17581" b="12701"/>
          <a:stretch>
            <a:fillRect/>
          </a:stretch>
        </p:blipFill>
        <p:spPr>
          <a:xfrm>
            <a:off x="39560674" y="11212728"/>
            <a:ext cx="2754714" cy="2999208"/>
          </a:xfrm>
          <a:prstGeom prst="rect">
            <a:avLst/>
          </a:prstGeom>
        </p:spPr>
      </p:pic>
      <p:pic>
        <p:nvPicPr>
          <p:cNvPr id="1047" name="Picture 1046" descr="A black and white speckled object on a metal surface&#10;&#10;AI-generated content may be incorrect.">
            <a:extLst>
              <a:ext uri="{FF2B5EF4-FFF2-40B4-BE49-F238E27FC236}">
                <a16:creationId xmlns:a16="http://schemas.microsoft.com/office/drawing/2014/main" id="{D1AB7339-0C5D-29AB-0D0E-6CF038027D29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t="6423" b="12634"/>
          <a:stretch>
            <a:fillRect/>
          </a:stretch>
        </p:blipFill>
        <p:spPr>
          <a:xfrm>
            <a:off x="39560675" y="5925141"/>
            <a:ext cx="2754713" cy="3034968"/>
          </a:xfrm>
          <a:prstGeom prst="rect">
            <a:avLst/>
          </a:prstGeom>
        </p:spPr>
      </p:pic>
      <p:sp>
        <p:nvSpPr>
          <p:cNvPr id="1048" name="TextBox 1047">
            <a:extLst>
              <a:ext uri="{FF2B5EF4-FFF2-40B4-BE49-F238E27FC236}">
                <a16:creationId xmlns:a16="http://schemas.microsoft.com/office/drawing/2014/main" id="{7A764457-8E2D-9725-A44E-D34150840ED1}"/>
              </a:ext>
            </a:extLst>
          </p:cNvPr>
          <p:cNvSpPr txBox="1"/>
          <p:nvPr/>
        </p:nvSpPr>
        <p:spPr>
          <a:xfrm>
            <a:off x="32988221" y="9003055"/>
            <a:ext cx="522942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Hipped Cylinder</a:t>
            </a:r>
          </a:p>
          <a:p>
            <a:pPr algn="just"/>
            <a:r>
              <a:rPr lang="en-US" sz="3200" dirty="0"/>
              <a:t>Limited channelization causes particles move as a single mass rather than mix.</a:t>
            </a:r>
            <a:endParaRPr lang="en-US" sz="3000" dirty="0"/>
          </a:p>
        </p:txBody>
      </p:sp>
      <p:sp>
        <p:nvSpPr>
          <p:cNvPr id="1050" name="TextBox 1049">
            <a:extLst>
              <a:ext uri="{FF2B5EF4-FFF2-40B4-BE49-F238E27FC236}">
                <a16:creationId xmlns:a16="http://schemas.microsoft.com/office/drawing/2014/main" id="{621DB3DE-BA4A-A13C-AAD7-4D8C3EBC9E2F}"/>
              </a:ext>
            </a:extLst>
          </p:cNvPr>
          <p:cNvSpPr txBox="1"/>
          <p:nvPr/>
        </p:nvSpPr>
        <p:spPr>
          <a:xfrm>
            <a:off x="38712303" y="9003055"/>
            <a:ext cx="485621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Inverted Pyramid</a:t>
            </a:r>
          </a:p>
          <a:p>
            <a:pPr algn="just"/>
            <a:r>
              <a:rPr lang="en-US" sz="3200" dirty="0"/>
              <a:t>Geometry-dependent dead zones near the corners resulting in clumps</a:t>
            </a:r>
            <a:endParaRPr lang="en-US" sz="3000" dirty="0"/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07EABE52-8769-E1C0-3505-64EE066BAD5F}"/>
              </a:ext>
            </a:extLst>
          </p:cNvPr>
          <p:cNvSpPr txBox="1"/>
          <p:nvPr/>
        </p:nvSpPr>
        <p:spPr>
          <a:xfrm>
            <a:off x="33051937" y="14414545"/>
            <a:ext cx="5229428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Straight Cylinder</a:t>
            </a:r>
          </a:p>
          <a:p>
            <a:pPr algn="just"/>
            <a:r>
              <a:rPr lang="en-US" sz="3200" dirty="0"/>
              <a:t>Channelization results in effective mixing; bottom-layer behavior was slightly obscured by tape</a:t>
            </a:r>
            <a:endParaRPr lang="en-US" sz="3000" dirty="0"/>
          </a:p>
        </p:txBody>
      </p:sp>
      <p:sp>
        <p:nvSpPr>
          <p:cNvPr id="1052" name="TextBox 1051">
            <a:extLst>
              <a:ext uri="{FF2B5EF4-FFF2-40B4-BE49-F238E27FC236}">
                <a16:creationId xmlns:a16="http://schemas.microsoft.com/office/drawing/2014/main" id="{91205031-535F-6E97-42BE-8D62A488E1D4}"/>
              </a:ext>
            </a:extLst>
          </p:cNvPr>
          <p:cNvSpPr txBox="1"/>
          <p:nvPr/>
        </p:nvSpPr>
        <p:spPr>
          <a:xfrm>
            <a:off x="38712303" y="14414545"/>
            <a:ext cx="470434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Inverted Cone</a:t>
            </a:r>
          </a:p>
          <a:p>
            <a:pPr algn="just"/>
            <a:r>
              <a:rPr lang="en-US" sz="3200" dirty="0"/>
              <a:t>Asymmetric spiral channel results in effective mixing despite uneven local velocities.</a:t>
            </a:r>
            <a:endParaRPr lang="en-US" sz="3000" dirty="0"/>
          </a:p>
        </p:txBody>
      </p:sp>
      <p:pic>
        <p:nvPicPr>
          <p:cNvPr id="1054" name="Picture 1053">
            <a:extLst>
              <a:ext uri="{FF2B5EF4-FFF2-40B4-BE49-F238E27FC236}">
                <a16:creationId xmlns:a16="http://schemas.microsoft.com/office/drawing/2014/main" id="{D3A3F4D9-9F41-85B3-BA82-A14F4C0B441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 b="1470"/>
          <a:stretch>
            <a:fillRect/>
          </a:stretch>
        </p:blipFill>
        <p:spPr>
          <a:xfrm>
            <a:off x="34249759" y="5925141"/>
            <a:ext cx="2859495" cy="3007690"/>
          </a:xfrm>
          <a:prstGeom prst="rect">
            <a:avLst/>
          </a:prstGeom>
        </p:spPr>
      </p:pic>
      <p:sp>
        <p:nvSpPr>
          <p:cNvPr id="1055" name="TextBox 1054">
            <a:extLst>
              <a:ext uri="{FF2B5EF4-FFF2-40B4-BE49-F238E27FC236}">
                <a16:creationId xmlns:a16="http://schemas.microsoft.com/office/drawing/2014/main" id="{21EE0533-D953-8895-908C-C88FB832FB62}"/>
              </a:ext>
            </a:extLst>
          </p:cNvPr>
          <p:cNvSpPr txBox="1"/>
          <p:nvPr/>
        </p:nvSpPr>
        <p:spPr>
          <a:xfrm>
            <a:off x="33051936" y="18838959"/>
            <a:ext cx="103359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System Overview</a:t>
            </a:r>
            <a:endParaRPr lang="en-US" sz="3000" dirty="0"/>
          </a:p>
        </p:txBody>
      </p:sp>
      <p:sp>
        <p:nvSpPr>
          <p:cNvPr id="1056" name="TextBox 1055">
            <a:extLst>
              <a:ext uri="{FF2B5EF4-FFF2-40B4-BE49-F238E27FC236}">
                <a16:creationId xmlns:a16="http://schemas.microsoft.com/office/drawing/2014/main" id="{E6DB0761-724C-D112-6A53-89CE9163C854}"/>
              </a:ext>
            </a:extLst>
          </p:cNvPr>
          <p:cNvSpPr txBox="1"/>
          <p:nvPr/>
        </p:nvSpPr>
        <p:spPr>
          <a:xfrm>
            <a:off x="36576864" y="20855247"/>
            <a:ext cx="32789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Control Loop</a:t>
            </a:r>
            <a:endParaRPr lang="en-US" sz="3000" b="1" dirty="0"/>
          </a:p>
        </p:txBody>
      </p:sp>
      <p:sp>
        <p:nvSpPr>
          <p:cNvPr id="1057" name="TextBox 1056">
            <a:extLst>
              <a:ext uri="{FF2B5EF4-FFF2-40B4-BE49-F238E27FC236}">
                <a16:creationId xmlns:a16="http://schemas.microsoft.com/office/drawing/2014/main" id="{D3C69369-8FAF-2A82-72C6-EB5B1E11CB98}"/>
              </a:ext>
            </a:extLst>
          </p:cNvPr>
          <p:cNvSpPr txBox="1"/>
          <p:nvPr/>
        </p:nvSpPr>
        <p:spPr>
          <a:xfrm>
            <a:off x="36772206" y="23919820"/>
            <a:ext cx="3427729" cy="646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Hardware</a:t>
            </a:r>
            <a:endParaRPr lang="en-US" sz="3000" b="1" dirty="0"/>
          </a:p>
        </p:txBody>
      </p:sp>
      <p:sp>
        <p:nvSpPr>
          <p:cNvPr id="1061" name="Rectangle 4">
            <a:extLst>
              <a:ext uri="{FF2B5EF4-FFF2-40B4-BE49-F238E27FC236}">
                <a16:creationId xmlns:a16="http://schemas.microsoft.com/office/drawing/2014/main" id="{5CADF272-0686-4015-8FC7-929A661AA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04199" y="19357351"/>
            <a:ext cx="993136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Overhead camera measures bed height in real time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Motorized valve adjusts flow to maintain target expansion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PD controller compensates for disturbances (e.g., pump drift)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2A77EBA-7DDD-0CED-7E57-FC12028A846A}"/>
              </a:ext>
            </a:extLst>
          </p:cNvPr>
          <p:cNvGrpSpPr/>
          <p:nvPr/>
        </p:nvGrpSpPr>
        <p:grpSpPr>
          <a:xfrm>
            <a:off x="32544151" y="21601429"/>
            <a:ext cx="11000470" cy="2169055"/>
            <a:chOff x="32538000" y="22587781"/>
            <a:chExt cx="11000470" cy="216905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8B4ED45-E298-7AD1-A108-B757E6F46C33}"/>
                </a:ext>
              </a:extLst>
            </p:cNvPr>
            <p:cNvSpPr txBox="1"/>
            <p:nvPr/>
          </p:nvSpPr>
          <p:spPr>
            <a:xfrm>
              <a:off x="32538000" y="23181304"/>
              <a:ext cx="2623784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000" dirty="0"/>
                <a:t>Target Bed Height 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76BEE37-E7A5-6F1C-AE8C-14A151C89400}"/>
                </a:ext>
              </a:extLst>
            </p:cNvPr>
            <p:cNvSpPr txBox="1"/>
            <p:nvPr/>
          </p:nvSpPr>
          <p:spPr>
            <a:xfrm>
              <a:off x="36479293" y="22597278"/>
              <a:ext cx="1851041" cy="101566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000" dirty="0"/>
                <a:t>PD Controller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5822C17-05AA-BD02-7529-8E5C9708174D}"/>
                </a:ext>
              </a:extLst>
            </p:cNvPr>
            <p:cNvSpPr txBox="1"/>
            <p:nvPr/>
          </p:nvSpPr>
          <p:spPr>
            <a:xfrm>
              <a:off x="38878789" y="22596692"/>
              <a:ext cx="2399681" cy="101566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000" dirty="0"/>
                <a:t>Motorized Flow Valve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117D41E-564B-FDAE-6D9C-9B811D611E5C}"/>
                </a:ext>
              </a:extLst>
            </p:cNvPr>
            <p:cNvSpPr txBox="1"/>
            <p:nvPr/>
          </p:nvSpPr>
          <p:spPr>
            <a:xfrm>
              <a:off x="41381400" y="23101430"/>
              <a:ext cx="2157070" cy="1015663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000" dirty="0"/>
                <a:t>Fluidized Bed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3D6043F-A1A8-2E99-7D76-1D331480BC10}"/>
                </a:ext>
              </a:extLst>
            </p:cNvPr>
            <p:cNvSpPr txBox="1"/>
            <p:nvPr/>
          </p:nvSpPr>
          <p:spPr>
            <a:xfrm>
              <a:off x="36466884" y="23741173"/>
              <a:ext cx="3726900" cy="101566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000" dirty="0"/>
                <a:t>Camera measuring bed height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3C94A1C8-652C-123D-F85B-ACE93DFC0717}"/>
                </a:ext>
              </a:extLst>
            </p:cNvPr>
            <p:cNvCxnSpPr>
              <a:cxnSpLocks/>
              <a:endCxn id="13" idx="2"/>
            </p:cNvCxnSpPr>
            <p:nvPr/>
          </p:nvCxnSpPr>
          <p:spPr>
            <a:xfrm>
              <a:off x="33401468" y="23104025"/>
              <a:ext cx="1464062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Flowchart: Summing Junction 12">
              <a:extLst>
                <a:ext uri="{FF2B5EF4-FFF2-40B4-BE49-F238E27FC236}">
                  <a16:creationId xmlns:a16="http://schemas.microsoft.com/office/drawing/2014/main" id="{B6204DEA-6D4F-9B6F-D4A4-A459B59BB00F}"/>
                </a:ext>
              </a:extLst>
            </p:cNvPr>
            <p:cNvSpPr/>
            <p:nvPr/>
          </p:nvSpPr>
          <p:spPr>
            <a:xfrm>
              <a:off x="34865530" y="22587781"/>
              <a:ext cx="1032487" cy="1032487"/>
            </a:xfrm>
            <a:prstGeom prst="flowChartSummingJunction">
              <a:avLst/>
            </a:prstGeom>
            <a:ln w="381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8A6B4855-B069-DAC4-6B17-7F199EDC53DA}"/>
                </a:ext>
              </a:extLst>
            </p:cNvPr>
            <p:cNvCxnSpPr>
              <a:cxnSpLocks/>
              <a:stCxn id="13" idx="6"/>
              <a:endCxn id="5" idx="1"/>
            </p:cNvCxnSpPr>
            <p:nvPr/>
          </p:nvCxnSpPr>
          <p:spPr>
            <a:xfrm>
              <a:off x="35898017" y="23104025"/>
              <a:ext cx="581276" cy="1085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E29A7F89-D689-40ED-2DD9-09DDC4CF63ED}"/>
                </a:ext>
              </a:extLst>
            </p:cNvPr>
            <p:cNvCxnSpPr>
              <a:cxnSpLocks/>
              <a:stCxn id="5" idx="3"/>
              <a:endCxn id="7" idx="1"/>
            </p:cNvCxnSpPr>
            <p:nvPr/>
          </p:nvCxnSpPr>
          <p:spPr>
            <a:xfrm flipV="1">
              <a:off x="38330334" y="23104524"/>
              <a:ext cx="548455" cy="586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12BF6841-BC0D-68CE-8EF7-2E5EBA77C0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306898" y="23104024"/>
              <a:ext cx="2124353" cy="491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C9801440-050F-4941-5671-14DC18047BDE}"/>
                </a:ext>
              </a:extLst>
            </p:cNvPr>
            <p:cNvCxnSpPr>
              <a:cxnSpLocks/>
              <a:endCxn id="9" idx="3"/>
            </p:cNvCxnSpPr>
            <p:nvPr/>
          </p:nvCxnSpPr>
          <p:spPr>
            <a:xfrm flipH="1">
              <a:off x="40193784" y="24249005"/>
              <a:ext cx="1247187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D42F66B-B1B7-47E1-6D37-959A57842D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440972" y="23131278"/>
              <a:ext cx="0" cy="1136527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72426FAB-E95E-FD39-984A-FF0B9125E5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393258" y="23624913"/>
              <a:ext cx="0" cy="65080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2960E65-D4D4-DB28-565D-292079984651}"/>
                </a:ext>
              </a:extLst>
            </p:cNvPr>
            <p:cNvCxnSpPr>
              <a:cxnSpLocks/>
              <a:endCxn id="9" idx="1"/>
            </p:cNvCxnSpPr>
            <p:nvPr/>
          </p:nvCxnSpPr>
          <p:spPr>
            <a:xfrm>
              <a:off x="35412339" y="24249005"/>
              <a:ext cx="1054545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1DFC48E7-1468-1567-6070-17E6C0A6EA27}"/>
              </a:ext>
            </a:extLst>
          </p:cNvPr>
          <p:cNvSpPr txBox="1"/>
          <p:nvPr/>
        </p:nvSpPr>
        <p:spPr>
          <a:xfrm>
            <a:off x="2688336" y="292779"/>
            <a:ext cx="385145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/>
              <a:t>Automated Flow Control and Mixing Performance in Fluidized Bottle </a:t>
            </a:r>
            <a:r>
              <a:rPr lang="en-US" sz="8000" b="1" dirty="0" err="1"/>
              <a:t>Upweller</a:t>
            </a:r>
            <a:r>
              <a:rPr lang="en-US" sz="8000" b="1" dirty="0"/>
              <a:t> Systems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8154B5F-6A6B-1095-5888-46B1968AEDE1}"/>
              </a:ext>
            </a:extLst>
          </p:cNvPr>
          <p:cNvSpPr txBox="1"/>
          <p:nvPr/>
        </p:nvSpPr>
        <p:spPr>
          <a:xfrm>
            <a:off x="11581307" y="1623570"/>
            <a:ext cx="2072858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/>
              <a:t>Jessica Lam</a:t>
            </a:r>
            <a:r>
              <a:rPr lang="en-US" sz="5000" b="1" baseline="30000" dirty="0"/>
              <a:t> 1 2</a:t>
            </a:r>
            <a:r>
              <a:rPr lang="en-US" sz="5000" b="1" dirty="0"/>
              <a:t>, Andrew Bennett</a:t>
            </a:r>
            <a:r>
              <a:rPr lang="en-US" sz="5000" b="1" baseline="30000" dirty="0"/>
              <a:t> 1 2</a:t>
            </a:r>
            <a:r>
              <a:rPr lang="en-US" sz="5000" b="1" dirty="0"/>
              <a:t>, Michael Triantafyllou </a:t>
            </a:r>
            <a:r>
              <a:rPr lang="en-US" sz="5000" b="1" baseline="30000" dirty="0"/>
              <a:t>1 2</a:t>
            </a:r>
            <a:endParaRPr lang="en-US" sz="5000" b="1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0FFF549-5494-3744-D736-71AAF1D70FAE}"/>
              </a:ext>
            </a:extLst>
          </p:cNvPr>
          <p:cNvSpPr txBox="1"/>
          <p:nvPr/>
        </p:nvSpPr>
        <p:spPr>
          <a:xfrm>
            <a:off x="11633221" y="2481442"/>
            <a:ext cx="207285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baseline="30000" dirty="0"/>
              <a:t>1 </a:t>
            </a:r>
            <a:r>
              <a:rPr lang="en-US" sz="3600" b="1" dirty="0"/>
              <a:t>MIT Sea Grant, </a:t>
            </a:r>
            <a:r>
              <a:rPr lang="en-US" sz="3600" b="1" baseline="30000" dirty="0"/>
              <a:t>2 </a:t>
            </a:r>
            <a:r>
              <a:rPr lang="en-US" sz="3600" b="1" dirty="0"/>
              <a:t>Department of Mechanical Engineering</a:t>
            </a:r>
          </a:p>
        </p:txBody>
      </p:sp>
      <p:pic>
        <p:nvPicPr>
          <p:cNvPr id="1026" name="Picture 2" descr="Public Comments Sought for MIT Sea Grant Review - MIT Sea Grant">
            <a:extLst>
              <a:ext uri="{FF2B5EF4-FFF2-40B4-BE49-F238E27FC236}">
                <a16:creationId xmlns:a16="http://schemas.microsoft.com/office/drawing/2014/main" id="{5EA96209-06CA-738A-5C48-E9DD6A3DAD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4143" y="1665572"/>
            <a:ext cx="285750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9D6416F-6833-5910-7B07-A45A6ABC53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565" y="1917700"/>
            <a:ext cx="2017860" cy="1043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Office of Oceanic and Atmospheric Research - Wikipedia">
            <a:extLst>
              <a:ext uri="{FF2B5EF4-FFF2-40B4-BE49-F238E27FC236}">
                <a16:creationId xmlns:a16="http://schemas.microsoft.com/office/drawing/2014/main" id="{CEAEC084-0A43-74FB-3389-E870A59A85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91360" y="1606562"/>
            <a:ext cx="1495638" cy="1496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27F5D51-90CB-72FA-B31B-73576CB80FA3}"/>
              </a:ext>
            </a:extLst>
          </p:cNvPr>
          <p:cNvSpPr/>
          <p:nvPr/>
        </p:nvSpPr>
        <p:spPr>
          <a:xfrm>
            <a:off x="32742732" y="17375613"/>
            <a:ext cx="10825790" cy="14377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Automated Flow Control System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920957-89F6-804A-6638-D045AEB63B93}"/>
              </a:ext>
            </a:extLst>
          </p:cNvPr>
          <p:cNvSpPr txBox="1"/>
          <p:nvPr/>
        </p:nvSpPr>
        <p:spPr>
          <a:xfrm>
            <a:off x="38298011" y="24916288"/>
            <a:ext cx="448898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Motor housing clamps to existing valve and gear train drives valve position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5BFDB76-2F57-9D5A-1EA2-60782E2290CB}"/>
              </a:ext>
            </a:extLst>
          </p:cNvPr>
          <p:cNvSpPr/>
          <p:nvPr/>
        </p:nvSpPr>
        <p:spPr>
          <a:xfrm>
            <a:off x="32742732" y="27254114"/>
            <a:ext cx="10825790" cy="109941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Conclusion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65245D4-BDC2-59B7-D07B-AA769EFEE11F}"/>
              </a:ext>
            </a:extLst>
          </p:cNvPr>
          <p:cNvSpPr/>
          <p:nvPr/>
        </p:nvSpPr>
        <p:spPr>
          <a:xfrm>
            <a:off x="32742730" y="28353533"/>
            <a:ext cx="10825791" cy="4175761"/>
          </a:xfrm>
          <a:prstGeom prst="rect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F7DE4EF-4D7A-E65C-BD65-9F269013B8BE}"/>
              </a:ext>
            </a:extLst>
          </p:cNvPr>
          <p:cNvSpPr txBox="1"/>
          <p:nvPr/>
        </p:nvSpPr>
        <p:spPr>
          <a:xfrm>
            <a:off x="36576864" y="28493466"/>
            <a:ext cx="3427729" cy="646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Key Takeaways</a:t>
            </a:r>
            <a:endParaRPr lang="en-US" sz="30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F4BD976-1BA6-8D4A-31F5-CE03CF027646}"/>
              </a:ext>
            </a:extLst>
          </p:cNvPr>
          <p:cNvSpPr txBox="1"/>
          <p:nvPr/>
        </p:nvSpPr>
        <p:spPr>
          <a:xfrm>
            <a:off x="36556018" y="30951743"/>
            <a:ext cx="3427729" cy="646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Next Steps</a:t>
            </a:r>
            <a:endParaRPr lang="en-US" sz="30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D259AB9-C96C-7775-16DD-181E8588AEA1}"/>
              </a:ext>
            </a:extLst>
          </p:cNvPr>
          <p:cNvSpPr txBox="1"/>
          <p:nvPr/>
        </p:nvSpPr>
        <p:spPr>
          <a:xfrm>
            <a:off x="32829183" y="31489201"/>
            <a:ext cx="1065544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Integrate dense optical flow with bed expansion to dictate </a:t>
            </a:r>
            <a:r>
              <a:rPr lang="en-US" altLang="en-US" sz="3000" dirty="0"/>
              <a:t>flow</a:t>
            </a: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000" dirty="0"/>
              <a:t>Field validation with live oysters to link flow profiles to growth</a:t>
            </a: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16C168D-2BEC-136B-630E-AC88F7091EE7}"/>
              </a:ext>
            </a:extLst>
          </p:cNvPr>
          <p:cNvSpPr txBox="1"/>
          <p:nvPr/>
        </p:nvSpPr>
        <p:spPr>
          <a:xfrm>
            <a:off x="32843921" y="29067257"/>
            <a:ext cx="1065544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000" dirty="0"/>
              <a:t>Silo geometry does not significantly affect mixing time, but greatly influence flow patterns</a:t>
            </a: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000" dirty="0"/>
              <a:t>Bed expansion is a reliable, observable metric for achieving fluidization, but does not consider oyster growth </a:t>
            </a: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B1CFFA2A-8288-5A83-90CF-8F88363B886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7594" y="27517186"/>
            <a:ext cx="4450598" cy="3337948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DC16FC37-4E90-9A7D-56FB-5BC9EBD109CE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00" t="22948" r="6632" b="6976"/>
          <a:stretch>
            <a:fillRect/>
          </a:stretch>
        </p:blipFill>
        <p:spPr>
          <a:xfrm>
            <a:off x="34613672" y="24695861"/>
            <a:ext cx="3278933" cy="1974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903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12802</TotalTime>
  <Words>795</Words>
  <Application>Microsoft Office PowerPoint</Application>
  <PresentationFormat>Custom</PresentationFormat>
  <Paragraphs>114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Helvetica Neue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jessica lam</dc:creator>
  <cp:lastModifiedBy>jessica lam</cp:lastModifiedBy>
  <cp:revision>20</cp:revision>
  <dcterms:created xsi:type="dcterms:W3CDTF">2025-12-27T09:21:40Z</dcterms:created>
  <dcterms:modified xsi:type="dcterms:W3CDTF">2026-01-05T18:58:46Z</dcterms:modified>
</cp:coreProperties>
</file>